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5" r:id="rId3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udarshan" initials="S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>
                <a:latin typeface="Sweetie" panose="020B0606030804020204" charset="0"/>
              </a:rPr>
            </a:fld>
            <a:endParaRPr lang="en-US" altLang="en-US" sz="1200">
              <a:latin typeface="Sweetie" panose="020B060603080402020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>
                <a:latin typeface="Sweetie" panose="020B0606030804020204" charset="0"/>
              </a:rPr>
            </a:fld>
            <a:endParaRPr lang="en-US" altLang="en-US" sz="1200">
              <a:latin typeface="Sweetie" panose="020B060603080402020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>
                <a:latin typeface="Sweetie" panose="020B0606030804020204" charset="0"/>
              </a:rPr>
            </a:fld>
            <a:endParaRPr lang="en-US" altLang="en-US" sz="1200">
              <a:latin typeface="Sweetie" panose="020B0606030804020204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>
                <a:latin typeface="Sweetie" panose="020B0606030804020204" charset="0"/>
              </a:rPr>
            </a:fld>
            <a:endParaRPr lang="en-US" altLang="en-US" sz="1200">
              <a:latin typeface="Sweetie" panose="020B0606030804020204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114300"/>
            <a:ext cx="80772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2167" y="1130365"/>
            <a:ext cx="7563231" cy="3917124"/>
          </a:xfrm>
        </p:spPr>
        <p:txBody>
          <a:bodyPr/>
          <a:lstStyle/>
          <a:p>
            <a:r>
              <a:rPr lang="en-US" altLang="en-US" sz="1700" dirty="0"/>
              <a:t>Entity sets and relationship sets can be expressed uniformly as </a:t>
            </a:r>
            <a:r>
              <a:rPr lang="en-US" altLang="en-US" sz="1700" i="1" dirty="0"/>
              <a:t>relation schemas </a:t>
            </a:r>
            <a:r>
              <a:rPr lang="en-US" altLang="en-US" sz="1700" dirty="0"/>
              <a:t>that represent the contents of the database.</a:t>
            </a:r>
            <a:endParaRPr lang="en-US" altLang="en-US" sz="1700" dirty="0"/>
          </a:p>
          <a:p>
            <a:r>
              <a:rPr lang="en-US" altLang="en-US" sz="1700" dirty="0"/>
              <a:t>A database which conforms to an E-R diagram can be represented by a collection of schemas.</a:t>
            </a:r>
            <a:endParaRPr lang="en-US" altLang="en-US" sz="1700" dirty="0"/>
          </a:p>
          <a:p>
            <a:r>
              <a:rPr lang="en-US" altLang="en-US" sz="1700" dirty="0"/>
              <a:t>For each entity set and relationship set there is a unique schema that is assigned the name of the corresponding entity set or relationship set.</a:t>
            </a:r>
            <a:endParaRPr lang="en-US" altLang="en-US" sz="1700" dirty="0"/>
          </a:p>
          <a:p>
            <a:r>
              <a:rPr lang="en-US" altLang="en-US" sz="1700" dirty="0"/>
              <a:t>Each schema has a number of columns (generally corresponding to attributes), which have unique names.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2350" y="1141413"/>
            <a:ext cx="7612063" cy="2528887"/>
          </a:xfrm>
        </p:spPr>
        <p:txBody>
          <a:bodyPr>
            <a:normAutofit fontScale="60000"/>
          </a:bodyPr>
          <a:lstStyle/>
          <a:p>
            <a:r>
              <a:rPr lang="en-US" altLang="en-US" sz="1700" dirty="0"/>
              <a:t>A strong entity set reduces to a schema with the same attributes</a:t>
            </a:r>
            <a:endParaRPr lang="en-US" altLang="en-US" sz="1700" dirty="0"/>
          </a:p>
          <a:p>
            <a:pPr>
              <a:buFont typeface="Toots Regular" panose="02010600010101010101" charset="-122"/>
              <a:buNone/>
            </a:pPr>
            <a:br>
              <a:rPr lang="en-US" altLang="en-US" sz="1700" dirty="0"/>
            </a:br>
            <a:r>
              <a:rPr lang="en-US" altLang="en-US" sz="1700" dirty="0"/>
              <a:t>            </a:t>
            </a:r>
            <a:r>
              <a:rPr lang="en-US" altLang="en-US" sz="1700" i="1" dirty="0"/>
              <a:t>student(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name, </a:t>
            </a:r>
            <a:r>
              <a:rPr lang="en-US" altLang="en-US" sz="1700" i="1" dirty="0" err="1"/>
              <a:t>tot_cred</a:t>
            </a:r>
            <a:r>
              <a:rPr lang="en-US" altLang="en-US" sz="1700" i="1" dirty="0"/>
              <a:t>)</a:t>
            </a:r>
            <a:endParaRPr lang="en-US" altLang="en-US" sz="1700" i="1" dirty="0"/>
          </a:p>
          <a:p>
            <a:pPr>
              <a:buFont typeface="Toots Regular" panose="02010600010101010101" charset="-122"/>
              <a:buNone/>
            </a:pPr>
            <a:endParaRPr lang="en-US" altLang="en-US" sz="800" dirty="0"/>
          </a:p>
          <a:p>
            <a:r>
              <a:rPr lang="en-US" altLang="en-US" sz="1700" dirty="0"/>
              <a:t>A weak entity set becomes a table that includes a column for the primary key of the identifying strong entity set </a:t>
            </a:r>
            <a:endParaRPr lang="en-US" altLang="en-US" sz="1700" dirty="0"/>
          </a:p>
          <a:p>
            <a:pPr>
              <a:buFont typeface="Toots Regular" panose="02010600010101010101" charset="-122"/>
              <a:buNone/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</a:t>
            </a:r>
            <a:r>
              <a:rPr lang="en-US" altLang="en-US" sz="1700" i="1" dirty="0"/>
              <a:t>section ( </a:t>
            </a:r>
            <a:r>
              <a:rPr lang="en-US" altLang="en-US" sz="1700" i="1" u="sng" dirty="0" err="1"/>
              <a:t>course_id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sec_id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sem</a:t>
            </a:r>
            <a:r>
              <a:rPr lang="en-US" altLang="en-US" sz="1700" i="1" u="sng" dirty="0"/>
              <a:t>, year</a:t>
            </a:r>
            <a:r>
              <a:rPr lang="en-US" altLang="en-US" sz="1700" i="1" dirty="0"/>
              <a:t> )</a:t>
            </a:r>
            <a:endParaRPr lang="en-US" altLang="en-US" sz="1700" i="1" dirty="0"/>
          </a:p>
          <a:p>
            <a:r>
              <a:rPr lang="en-US" altLang="en-US" sz="1700" dirty="0"/>
              <a:t>Example</a:t>
            </a:r>
            <a:endParaRPr lang="en-US" altLang="en-US" sz="17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0572" y="4185920"/>
            <a:ext cx="6471285" cy="131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97113" y="-11113"/>
            <a:ext cx="8370887" cy="60960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73563" y="1104900"/>
            <a:ext cx="6026150" cy="5097463"/>
          </a:xfrm>
        </p:spPr>
        <p:txBody>
          <a:bodyPr>
            <a:normAutofit fontScale="9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Composite attributes are flattened out by creating a separate attribute for each component attribute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MS PGothic" panose="020B0600070205080204" pitchFamily="34" charset="-128"/>
              </a:rPr>
              <a:t>Example: given entity set </a:t>
            </a:r>
            <a:r>
              <a:rPr lang="en-US" altLang="en-US" sz="1700" i="1" dirty="0">
                <a:ea typeface="MS PGothic" panose="020B0600070205080204" pitchFamily="34" charset="-128"/>
              </a:rPr>
              <a:t>instructor</a:t>
            </a:r>
            <a:r>
              <a:rPr lang="en-US" altLang="en-US" sz="1700" dirty="0">
                <a:ea typeface="MS PGothic" panose="020B0600070205080204" pitchFamily="34" charset="-128"/>
              </a:rPr>
              <a:t> with composite attribute </a:t>
            </a:r>
            <a:r>
              <a:rPr lang="en-US" altLang="en-US" sz="1700" i="1" dirty="0">
                <a:ea typeface="MS PGothic" panose="020B0600070205080204" pitchFamily="34" charset="-128"/>
              </a:rPr>
              <a:t>name</a:t>
            </a:r>
            <a:r>
              <a:rPr lang="en-US" altLang="en-US" sz="1700" dirty="0">
                <a:ea typeface="MS PGothic" panose="020B0600070205080204" pitchFamily="34" charset="-128"/>
              </a:rPr>
              <a:t> with component attributes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1700" i="1" dirty="0">
                <a:ea typeface="MS PGothic" panose="020B0600070205080204" pitchFamily="34" charset="-128"/>
              </a:rPr>
              <a:t> </a:t>
            </a:r>
            <a:r>
              <a:rPr lang="en-US" altLang="en-US" sz="1700" dirty="0">
                <a:ea typeface="MS PGothic" panose="020B0600070205080204" pitchFamily="34" charset="-128"/>
              </a:rPr>
              <a:t>and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1700" dirty="0">
                <a:ea typeface="MS PGothic" panose="020B0600070205080204" pitchFamily="34" charset="-128"/>
              </a:rPr>
              <a:t> the schema corresponding to the entity set has two attributes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1700" dirty="0">
                <a:ea typeface="MS PGothic" panose="020B0600070205080204" pitchFamily="34" charset="-128"/>
              </a:rPr>
              <a:t>  and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name_last_name</a:t>
            </a:r>
            <a:endParaRPr lang="en-US" altLang="en-US" sz="1700" i="1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MS PGothic" panose="020B0600070205080204" pitchFamily="34" charset="-128"/>
              </a:rPr>
              <a:t>Prefix omitted if there is no ambiguity (</a:t>
            </a:r>
            <a:r>
              <a:rPr lang="en-US" altLang="en-US" sz="17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1700" i="1" dirty="0">
                <a:ea typeface="MS PGothic" panose="020B0600070205080204" pitchFamily="34" charset="-128"/>
              </a:rPr>
              <a:t> </a:t>
            </a:r>
            <a:r>
              <a:rPr lang="en-US" altLang="en-US" sz="1700" dirty="0">
                <a:ea typeface="MS PGothic" panose="020B0600070205080204" pitchFamily="34" charset="-128"/>
              </a:rPr>
              <a:t>could be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1700" i="1" dirty="0">
                <a:ea typeface="MS PGothic" panose="020B0600070205080204" pitchFamily="34" charset="-128"/>
              </a:rPr>
              <a:t>)</a:t>
            </a:r>
            <a:endParaRPr lang="en-US" altLang="en-US" sz="1700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Ignoring multivalued attributes, extended instructor schema is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>
                <a:ea typeface="MS PGothic" panose="020B0600070205080204" pitchFamily="34" charset="-128"/>
              </a:rPr>
              <a:t>instructor(ID, </a:t>
            </a:r>
            <a:br>
              <a:rPr lang="en-US" altLang="en-US" sz="1700" i="1" dirty="0">
                <a:ea typeface="MS PGothic" panose="020B0600070205080204" pitchFamily="34" charset="-128"/>
              </a:rPr>
            </a:br>
            <a:r>
              <a:rPr lang="en-US" altLang="en-US" sz="1700" i="1" dirty="0">
                <a:ea typeface="MS PGothic" panose="020B0600070205080204" pitchFamily="34" charset="-128"/>
              </a:rPr>
              <a:t>     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1700" i="1" dirty="0">
                <a:ea typeface="MS PGothic" panose="020B0600070205080204" pitchFamily="34" charset="-128"/>
              </a:rPr>
              <a:t>,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middle_initial</a:t>
            </a:r>
            <a:r>
              <a:rPr lang="en-US" altLang="en-US" sz="1700" i="1" dirty="0">
                <a:ea typeface="MS PGothic" panose="020B0600070205080204" pitchFamily="34" charset="-128"/>
              </a:rPr>
              <a:t>, 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1700" i="1" dirty="0">
                <a:ea typeface="MS PGothic" panose="020B0600070205080204" pitchFamily="34" charset="-128"/>
              </a:rPr>
              <a:t>,</a:t>
            </a:r>
            <a:br>
              <a:rPr lang="en-US" altLang="en-US" sz="1700" i="1" dirty="0">
                <a:ea typeface="MS PGothic" panose="020B0600070205080204" pitchFamily="34" charset="-128"/>
              </a:rPr>
            </a:br>
            <a:r>
              <a:rPr lang="en-US" altLang="en-US" sz="1700" i="1" dirty="0">
                <a:ea typeface="MS PGothic" panose="020B0600070205080204" pitchFamily="34" charset="-128"/>
              </a:rPr>
              <a:t>     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street_number</a:t>
            </a:r>
            <a:r>
              <a:rPr lang="en-US" altLang="en-US" sz="1700" i="1" dirty="0">
                <a:ea typeface="MS PGothic" panose="020B0600070205080204" pitchFamily="34" charset="-128"/>
              </a:rPr>
              <a:t>,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street_name</a:t>
            </a:r>
            <a:r>
              <a:rPr lang="en-US" altLang="en-US" sz="1700" i="1" dirty="0">
                <a:ea typeface="MS PGothic" panose="020B0600070205080204" pitchFamily="34" charset="-128"/>
              </a:rPr>
              <a:t>,  </a:t>
            </a:r>
            <a:br>
              <a:rPr lang="en-US" altLang="en-US" sz="1700" i="1" dirty="0">
                <a:ea typeface="MS PGothic" panose="020B0600070205080204" pitchFamily="34" charset="-128"/>
              </a:rPr>
            </a:br>
            <a:r>
              <a:rPr lang="en-US" altLang="en-US" sz="1700" i="1" dirty="0">
                <a:ea typeface="MS PGothic" panose="020B0600070205080204" pitchFamily="34" charset="-128"/>
              </a:rPr>
              <a:t>          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apt_number</a:t>
            </a:r>
            <a:r>
              <a:rPr lang="en-US" altLang="en-US" sz="1700" i="1" dirty="0">
                <a:ea typeface="MS PGothic" panose="020B0600070205080204" pitchFamily="34" charset="-128"/>
              </a:rPr>
              <a:t>, city, state,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zip_code</a:t>
            </a:r>
            <a:r>
              <a:rPr lang="en-US" altLang="en-US" sz="1700" i="1" dirty="0">
                <a:ea typeface="MS PGothic" panose="020B0600070205080204" pitchFamily="34" charset="-128"/>
              </a:rPr>
              <a:t>,  </a:t>
            </a:r>
            <a:br>
              <a:rPr lang="en-US" altLang="en-US" sz="1700" i="1" dirty="0">
                <a:ea typeface="MS PGothic" panose="020B0600070205080204" pitchFamily="34" charset="-128"/>
              </a:rPr>
            </a:br>
            <a:r>
              <a:rPr lang="en-US" altLang="en-US" sz="1700" i="1" dirty="0">
                <a:ea typeface="MS PGothic" panose="020B0600070205080204" pitchFamily="34" charset="-128"/>
              </a:rPr>
              <a:t>      </a:t>
            </a:r>
            <a:r>
              <a:rPr lang="en-US" altLang="en-US" sz="1700" i="1" dirty="0" err="1">
                <a:ea typeface="MS PGothic" panose="020B0600070205080204" pitchFamily="34" charset="-128"/>
              </a:rPr>
              <a:t>date_of_birth</a:t>
            </a:r>
            <a:r>
              <a:rPr lang="en-US" altLang="en-US" sz="1700" i="1" dirty="0">
                <a:ea typeface="MS PGothic" panose="020B0600070205080204" pitchFamily="34" charset="-128"/>
              </a:rPr>
              <a:t>)</a:t>
            </a:r>
            <a:endParaRPr lang="en-US" altLang="en-US" sz="1700" i="1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27" y="1414272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4593" y="47625"/>
            <a:ext cx="8537575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96357" y="1205115"/>
            <a:ext cx="7518204" cy="481773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 multivalued attribute </a:t>
            </a:r>
            <a:r>
              <a:rPr lang="en-US" altLang="en-US" sz="1700" i="1" dirty="0"/>
              <a:t>M</a:t>
            </a:r>
            <a:r>
              <a:rPr lang="en-US" altLang="en-US" sz="1700" dirty="0"/>
              <a:t> of an entity </a:t>
            </a:r>
            <a:r>
              <a:rPr lang="en-US" altLang="en-US" sz="1700" i="1" dirty="0"/>
              <a:t>E</a:t>
            </a:r>
            <a:r>
              <a:rPr lang="en-US" altLang="en-US" sz="1700" dirty="0"/>
              <a:t> is represented by a separate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Schema </a:t>
            </a:r>
            <a:r>
              <a:rPr lang="en-US" altLang="en-US" sz="1700" i="1" dirty="0"/>
              <a:t>EM</a:t>
            </a:r>
            <a:r>
              <a:rPr lang="en-US" altLang="en-US" sz="1700" dirty="0"/>
              <a:t> has attributes corresponding to the primary key of </a:t>
            </a:r>
            <a:r>
              <a:rPr lang="en-US" altLang="en-US" sz="1700" i="1" dirty="0"/>
              <a:t>E</a:t>
            </a:r>
            <a:r>
              <a:rPr lang="en-US" altLang="en-US" sz="1700" dirty="0"/>
              <a:t> and an attribute corresponding to multivalued attribute </a:t>
            </a:r>
            <a:r>
              <a:rPr lang="en-US" altLang="en-US" sz="1700" i="1" dirty="0"/>
              <a:t>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 Multivalued attribute </a:t>
            </a:r>
            <a:r>
              <a:rPr lang="en-US" altLang="en-US" sz="1700" i="1" dirty="0" err="1"/>
              <a:t>phone_number</a:t>
            </a:r>
            <a:r>
              <a:rPr lang="en-US" altLang="en-US" sz="1700" i="1" dirty="0"/>
              <a:t> </a:t>
            </a:r>
            <a:r>
              <a:rPr lang="en-US" altLang="en-US" sz="1700" dirty="0"/>
              <a:t>of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is represented by a schema:</a:t>
            </a:r>
            <a:br>
              <a:rPr lang="en-US" altLang="en-US" sz="1700" dirty="0"/>
            </a:br>
            <a:r>
              <a:rPr lang="en-US" altLang="en-US" sz="1700" dirty="0"/>
              <a:t>    </a:t>
            </a:r>
            <a:r>
              <a:rPr lang="en-US" altLang="en-US" sz="1700" i="1" dirty="0" err="1"/>
              <a:t>inst_phone</a:t>
            </a:r>
            <a:r>
              <a:rPr lang="en-US" altLang="en-US" sz="1700" i="1" dirty="0"/>
              <a:t>= </a:t>
            </a:r>
            <a:r>
              <a:rPr lang="en-US" altLang="en-US" sz="1700" dirty="0"/>
              <a:t>(</a:t>
            </a:r>
            <a:r>
              <a:rPr lang="en-US" altLang="en-US" sz="1700" i="1" dirty="0"/>
              <a:t> 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</a:t>
            </a:r>
            <a:r>
              <a:rPr lang="en-US" altLang="en-US" sz="1700" i="1" u="sng" dirty="0" err="1"/>
              <a:t>phone_number</a:t>
            </a:r>
            <a:r>
              <a:rPr lang="en-US" altLang="en-US" sz="1700" dirty="0"/>
              <a:t>)</a:t>
            </a:r>
            <a:r>
              <a:rPr lang="en-US" altLang="en-US" sz="1700" i="1" dirty="0"/>
              <a:t> </a:t>
            </a:r>
            <a:endParaRPr lang="en-US" altLang="en-US" sz="17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Each value of the multivalued attribute maps to a separate tuple of the relation on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MS PGothic" panose="020B0600070205080204" pitchFamily="34" charset="-128"/>
              </a:rPr>
              <a:t>For example, an </a:t>
            </a:r>
            <a:r>
              <a:rPr lang="en-US" altLang="en-US" sz="1700" i="1" dirty="0">
                <a:ea typeface="MS PGothic" panose="020B0600070205080204" pitchFamily="34" charset="-128"/>
              </a:rPr>
              <a:t>instructor</a:t>
            </a:r>
            <a:r>
              <a:rPr lang="en-US" altLang="en-US" sz="1700" dirty="0">
                <a:ea typeface="MS PGothic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1700" dirty="0">
                <a:ea typeface="MS PGothic" panose="020B0600070205080204" pitchFamily="34" charset="-128"/>
              </a:rPr>
            </a:br>
            <a:r>
              <a:rPr lang="en-US" altLang="en-US" sz="1700" dirty="0">
                <a:ea typeface="MS PGothic" panose="020B0600070205080204" pitchFamily="34" charset="-128"/>
              </a:rPr>
              <a:t>   (22222, 456-7890) and (22222, 123-4567) </a:t>
            </a:r>
            <a:endParaRPr lang="en-US" altLang="en-US" sz="17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190750" y="96838"/>
            <a:ext cx="8429625" cy="603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8603" y="1189038"/>
            <a:ext cx="7523766" cy="1932114"/>
          </a:xfrm>
        </p:spPr>
        <p:txBody>
          <a:bodyPr>
            <a:normAutofit fontScale="70000"/>
          </a:bodyPr>
          <a:lstStyle/>
          <a:p>
            <a:r>
              <a:rPr lang="en-US" altLang="en-US" sz="1700" dirty="0"/>
              <a:t>A many-to-many relationship set is represented as a schema with attributes for the primary keys of the two participating entity sets, and any descriptive attributes of the relationship set. </a:t>
            </a:r>
            <a:endParaRPr lang="en-US" altLang="en-US" sz="1700" dirty="0"/>
          </a:p>
          <a:p>
            <a:r>
              <a:rPr lang="en-US" altLang="en-US" sz="1700" dirty="0"/>
              <a:t>Example: schema for relationship set </a:t>
            </a:r>
            <a:r>
              <a:rPr lang="en-US" altLang="en-US" sz="1700" i="1" dirty="0"/>
              <a:t>advisor</a:t>
            </a:r>
            <a:endParaRPr lang="en-US" altLang="en-US" sz="1700" i="1" dirty="0"/>
          </a:p>
          <a:p>
            <a:pPr>
              <a:buFont typeface="Toots Regular" panose="02010600010101010101" charset="-122"/>
              <a:buNone/>
            </a:pPr>
            <a:endParaRPr lang="en-US" altLang="en-US" sz="1700" i="1" dirty="0"/>
          </a:p>
          <a:p>
            <a:pPr>
              <a:buFont typeface="Toots Regular" panose="02010600010101010101" charset="-122"/>
              <a:buNone/>
            </a:pPr>
            <a:r>
              <a:rPr lang="en-US" altLang="en-US" sz="1700" dirty="0"/>
              <a:t>	         </a:t>
            </a:r>
            <a:r>
              <a:rPr lang="en-US" altLang="en-US" sz="1700" i="1" dirty="0"/>
              <a:t>advisor = </a:t>
            </a:r>
            <a:r>
              <a:rPr lang="en-US" altLang="en-US" sz="1700" dirty="0"/>
              <a:t>(</a:t>
            </a:r>
            <a:r>
              <a:rPr lang="en-US" altLang="en-US" sz="1700" i="1" u="sng" dirty="0" err="1"/>
              <a:t>s_id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i_id</a:t>
            </a:r>
            <a:r>
              <a:rPr lang="en-US" altLang="en-US" sz="1700" dirty="0"/>
              <a:t>)</a:t>
            </a:r>
            <a:endParaRPr lang="en-US" altLang="en-US" sz="1700" dirty="0"/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 rot="-372694">
            <a:off x="3740150" y="3624263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Sweetie" panose="020B0606030804020204" charset="0"/>
            </a:endParaRPr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911" y="3467594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2292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Sweetie" panose="020B0606030804020204" charset="0"/>
              </a:rPr>
              <a:t>Many-to-one and one-to-many relationship sets that are total on the many-side can be represented by adding an extra attribute to the “many” side, containing the primary key of the “one” side</a:t>
            </a:r>
            <a:endParaRPr kumimoji="1" lang="en-US" altLang="en-US" sz="1700" dirty="0">
              <a:latin typeface="Sweetie" panose="020B0606030804020204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Sweetie" panose="020B0606030804020204" charset="0"/>
              </a:rPr>
              <a:t>Example: Instead of creating a schema for relationship set </a:t>
            </a:r>
            <a:r>
              <a:rPr kumimoji="1" lang="en-US" altLang="en-US" sz="1700" i="1" dirty="0" err="1">
                <a:latin typeface="Sweetie" panose="020B0606030804020204" charset="0"/>
              </a:rPr>
              <a:t>inst_dept</a:t>
            </a:r>
            <a:r>
              <a:rPr kumimoji="1" lang="en-US" altLang="en-US" sz="1700" dirty="0">
                <a:latin typeface="Sweetie" panose="020B0606030804020204" charset="0"/>
              </a:rPr>
              <a:t>, add an attribute </a:t>
            </a:r>
            <a:r>
              <a:rPr kumimoji="1" lang="en-US" altLang="en-US" sz="1700" i="1" dirty="0">
                <a:latin typeface="Sweetie" panose="020B0606030804020204" charset="0"/>
              </a:rPr>
              <a:t>dept_name</a:t>
            </a:r>
            <a:r>
              <a:rPr kumimoji="1" lang="en-US" altLang="en-US" sz="1700" dirty="0">
                <a:latin typeface="Sweetie" panose="020B0606030804020204" charset="0"/>
              </a:rPr>
              <a:t> to the schema arising from entity set </a:t>
            </a:r>
            <a:r>
              <a:rPr kumimoji="1" lang="en-US" altLang="en-US" sz="1700" i="1" dirty="0">
                <a:latin typeface="Sweetie" panose="020B0606030804020204" charset="0"/>
              </a:rPr>
              <a:t>instructor</a:t>
            </a:r>
            <a:endParaRPr kumimoji="1" lang="en-US" altLang="en-US" sz="1700" i="1" dirty="0">
              <a:latin typeface="Sweetie" panose="020B0606030804020204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Sweetie" panose="020B0606030804020204" charset="0"/>
              </a:rPr>
              <a:t>Example</a:t>
            </a:r>
            <a:endParaRPr kumimoji="1" lang="en-US" altLang="en-US" sz="1700" dirty="0">
              <a:latin typeface="Sweetie" panose="020B0606030804020204" charset="0"/>
            </a:endParaRPr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3216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Sweetie" panose="020B0606030804020204" charset="0"/>
            </a:endParaRPr>
          </a:p>
        </p:txBody>
      </p:sp>
      <p:grpSp>
        <p:nvGrpSpPr>
          <p:cNvPr id="2" name="Group 13"/>
          <p:cNvGrpSpPr/>
          <p:nvPr/>
        </p:nvGrpSpPr>
        <p:grpSpPr bwMode="auto">
          <a:xfrm>
            <a:off x="2976880" y="3243072"/>
            <a:ext cx="6317679" cy="2578608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Sweetie" panose="020B0606030804020204" charset="0"/>
              </a:endParaRPr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Sweetie" panose="020B060603080402020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92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For one-to-one relationship sets, either side can be chosen to act as the “many” side</a:t>
            </a:r>
            <a:endParaRPr lang="en-US" altLang="en-US" sz="17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MS PGothic" panose="020B0600070205080204" pitchFamily="34" charset="-128"/>
              </a:rPr>
              <a:t>That is, an extra attribute can be added to either of the tables corresponding to the two entity sets </a:t>
            </a:r>
            <a:endParaRPr lang="en-US" altLang="en-US" sz="17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If participation is </a:t>
            </a:r>
            <a:r>
              <a:rPr lang="en-US" altLang="en-US" sz="1700" i="1" dirty="0"/>
              <a:t>partial</a:t>
            </a:r>
            <a:r>
              <a:rPr lang="en-US" altLang="en-US" sz="1700" dirty="0"/>
              <a:t> on the “many” side, replacing a schema by an extra attribute in the schema corresponding to the “many” side could result in null values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152400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92350" y="1222375"/>
            <a:ext cx="7621047" cy="1545209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The schema corresponding to a relationship set linking a weak entity set to its identifying strong entity set is redundant.</a:t>
            </a:r>
            <a:endParaRPr lang="en-US" alt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The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schema already contains the attributes that would appear in the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schema</a:t>
            </a:r>
            <a:endParaRPr lang="en-US" altLang="en-US" sz="1700" dirty="0"/>
          </a:p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5760" y="3210718"/>
            <a:ext cx="6930708" cy="14036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3394</Words>
  <Application>WPS 演示</Application>
  <PresentationFormat>宽屏</PresentationFormat>
  <Paragraphs>59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Helvetica</vt:lpstr>
      <vt:lpstr>MS PGothic</vt:lpstr>
      <vt:lpstr>Times New Roman</vt:lpstr>
      <vt:lpstr>Monotype Sorts</vt:lpstr>
      <vt:lpstr>微软雅黑</vt:lpstr>
      <vt:lpstr>Arial Unicode MS</vt:lpstr>
      <vt:lpstr>Calibri</vt:lpstr>
      <vt:lpstr>Sweetie</vt:lpstr>
      <vt:lpstr>Toots Regular</vt:lpstr>
      <vt:lpstr>WPS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Redundancy of Schemas (Cont.)</vt:lpstr>
      <vt:lpstr>Redundancy of Schemas (Cont.)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陈海裕</cp:lastModifiedBy>
  <cp:revision>157</cp:revision>
  <dcterms:created xsi:type="dcterms:W3CDTF">2019-06-19T02:08:00Z</dcterms:created>
  <dcterms:modified xsi:type="dcterms:W3CDTF">2025-12-19T12:33:46Z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F3CA6BDD3FDF4A56B6DE09DEF8B292AD_11</vt:lpwstr>
  </property>
</Properties>
</file>